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9509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Pick-and-Carry　学習条件・観測・制御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57200"/>
            <a:ext cx="11521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Unitree Go2 ＋ Unitree Z1　　PPO / BC / GAIL　　81/17（脚 CPG・腕 IK+残差）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04672"/>
            <a:ext cx="3822191" cy="5833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04672"/>
            <a:ext cx="3822191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3584447" cy="5321808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ロボット　Go2 に Z1（6 軸、約 5.2 kg）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　512×256×128 ELU、正規分布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更新　16 環境 × 128 step / iteration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最適化　Adam 1e-3（KL 0.01 で調整）、clip 0.2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割引　γ 0.99、λ 0.95、entropy 0.01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時間　dt 0.02 s、1 試行 20 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コース　平地 → 不整地 → 拾う → 不整地 → 置く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地面　波 3.5 cm、または段差 4.5 / 6 cm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箱と目標の下は平ら。段は毎回 ±2 cm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　一辺 4 cm。拾う 0.55 m、置く 0.45 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成功　目標の半径 0.28 m、高さ 0.08 m 未満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前進　0.40 m/s を追う。転倒 −5、設置 +10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分け方　歩行のみ／分割／同時 から選択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継続　箱運びは logs/ppo_z1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804672"/>
            <a:ext cx="3822191" cy="5833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6239" y="804672"/>
            <a:ext cx="3822191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観測　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4255" y="1225296"/>
            <a:ext cx="3584447" cy="5321808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位置は胴体基準。前が +X、上が +Z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脚の角度　　　　12　立ち姿勢との差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脚の角速度　　　12　×0.05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重力の向き　　　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胴体の並進速度　3　×2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胴体の角速度　　3　×0.25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胴体の高さ　　　1　世界座標の 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足の接地　　　　4　接触力 1 N 超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腕の角度　　　　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腕の角速度　　　6　×0.05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指の開き　　　　1　−90度が開き、0が閉じ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指の速度　　　　1　×0.05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手先・物資・目標　各 3　球では目標=球の速度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把持フラグ 1、段階 one-hot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速度指令　　　　3　球では 0.3 秒先の位置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直前の脚の指令　12　CPG が展開した関節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カメラ時は物資の 3 つだけ検知位置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見えない物資は (0, 0, −1)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6" y="804672"/>
            <a:ext cx="3822191" cy="5833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6" y="804672"/>
            <a:ext cx="3822191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制御　17（CPG＋IK残差）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2" y="1225296"/>
            <a:ext cx="3584447" cy="5321808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方策出力　CPG 15 ＋ 腕 Δq 6 ＋ 指 Δg 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脚は環境内 CPG が位相を進め 12 関節へ展開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振幅・周波数・姿勢バイアス・旋回など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展開後を PD（kp 60 / kd 1.5）で追従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腕は IK ベース + 小さな残差（×0.12 rad）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reach/箱/目標などへ数値 IK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kp 80 / kd 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指は段階ベース開閉 + 残差（×0.35 rad）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kp 20 / kd 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把持　閉じ側へ 0.20 rad 以内、距離 0.12 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歩行は CPG のみ。腕は固定／ランダム保持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旧・腕フル指令の重みは reach 以降で非互換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制御の流れ（今回のアプローチ）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384048"/>
            <a:ext cx="11521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方策は小さい指令だけ出す。脚は CPG、腕は IK ベース＋残差が関節目標を組み立て、最後に PD で追従する。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713232"/>
            <a:ext cx="5029200" cy="868680"/>
          </a:xfrm>
          <a:prstGeom prst="roundRect">
            <a:avLst>
              <a:gd name="adj" fmla="val 8000"/>
            </a:avLst>
          </a:prstGeom>
          <a:solidFill>
            <a:srgbClr val="D7E4E8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39312" y="768096"/>
            <a:ext cx="48828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方策（Actor）　行動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9312" y="1024128"/>
            <a:ext cx="4882896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CPG パラメータ 10 ＋ 腕残差 Δq 6 ＋ 指残差 Δg 1　（おおよそ −1〜1）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1609344"/>
            <a:ext cx="164592" cy="219456"/>
          </a:xfrm>
          <a:prstGeom prst="downArrow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28800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脚レーン（全段階）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54864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腕レーン（reach / haul / carry / catch）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148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" y="2203704"/>
            <a:ext cx="24597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① CPG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459736"/>
            <a:ext cx="2459736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周波数・振幅・持ち上げ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姿勢バイアス・旋回など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62656" y="2587752"/>
            <a:ext cx="256032" cy="164592"/>
          </a:xfrm>
          <a:prstGeom prst="rightArrow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18688" y="2148840"/>
            <a:ext cx="2606040" cy="105156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2203704"/>
            <a:ext cx="24597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② 環境内 CPG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459736"/>
            <a:ext cx="2459736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位相を進め、対角トロット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を 12 関節指令へ展開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1304" y="2587752"/>
            <a:ext cx="256032" cy="164592"/>
          </a:xfrm>
          <a:prstGeom prst="rightArrow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17336" y="2148840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2203704"/>
            <a:ext cx="218541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③ 脚 PD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2459736"/>
            <a:ext cx="2185416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kp 60 / kd 1.5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Go2 脚 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14884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203704"/>
            <a:ext cx="25511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① EE 目標 → 数値 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459736"/>
            <a:ext cx="2551176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到達点 / 箱 / 目標など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ベース姿勢 q_ik を解く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89136" y="2587752"/>
            <a:ext cx="256032" cy="164592"/>
          </a:xfrm>
          <a:prstGeom prst="rightArrow">
            <a:avLst/>
          </a:prstGeom>
          <a:solidFill>
            <a:srgbClr val="8A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45168" y="2148840"/>
            <a:ext cx="2697480" cy="105156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2203704"/>
            <a:ext cx="25511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② ＋ 残差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59736"/>
            <a:ext cx="2551176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q = q_ik + 0.12·Δq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 = 段階開閉 + 0.35·Δg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9646920" y="3218688"/>
            <a:ext cx="164592" cy="219456"/>
          </a:xfrm>
          <a:prstGeom prst="downArrow">
            <a:avLst/>
          </a:prstGeom>
          <a:solidFill>
            <a:srgbClr val="8A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818120" y="3456432"/>
            <a:ext cx="3977639" cy="86868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1272" y="3511296"/>
            <a:ext cx="383133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③ 腕・指 PD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1272" y="3767328"/>
            <a:ext cx="3831335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 kp 80 / kd 8　　指 kp 20 / kd 2　→ Z1 6 軸 + グリッパ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3456432"/>
            <a:ext cx="72237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09728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歩行（walk）だけは腕レーンを使わない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方策マスクは CPG のみ。腕は固定、または学習用にランダム保持（重心補償の練習）。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572000"/>
            <a:ext cx="1152144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63440"/>
            <a:ext cx="111556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なぜこの分け方か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983480"/>
            <a:ext cx="54864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脚（CPG）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・12 関節を直接出さず、歩容の「つまみ」10 個にする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・位相は環境が持つので、リズムが崩れにくい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・BC / GAIL の教師も同じ CPG 空間で教える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983480"/>
            <a:ext cx="54864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腕（IK＋残差）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・大まかな手先位置は IK が担当（探索を小さく）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・方策は微調整だけ → 学習が安定しやすい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・旧・腕フル指令の重みとは非互換（行動の意味が違う）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54864"/>
            <a:ext cx="11521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CPG と逆運動学（IK）を使った学習　—　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347472"/>
            <a:ext cx="11521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方策は 22 次元。脚は対角トロット CPG（位相オフセット・軟結合・接地引き込み付き）、手先は数値 IK＋残差。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621792"/>
            <a:ext cx="5852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脚 CPG：どの足にどうつながるか（上から見た対角トロット）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417320"/>
            <a:ext cx="2377440" cy="214884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148840"/>
            <a:ext cx="2377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胴体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95728"/>
            <a:ext cx="2377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+X 前＝グリッパ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33472"/>
            <a:ext cx="2377440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（アームは後ろ寄り）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D9E8DF"/>
          </a:solidFill>
          <a:ln w="1905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0789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FL 左前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3533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
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0058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0E0D8"/>
          </a:solidFill>
          <a:ln w="19050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0789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FR 右前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13533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
φ＋π＋Δab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8346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0E0D8"/>
          </a:solidFill>
          <a:ln w="19050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9077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RL 左後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31821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
φ＋π＋Δab＋Δb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8346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D9E8DF"/>
          </a:solidFill>
          <a:ln w="1905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9077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RR 右後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1821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
φ＋Δa</a:t>
            </a:r>
          </a:p>
        </p:txBody>
      </p:sp>
      <p:sp>
        <p:nvSpPr>
          <p:cNvPr id="22" name="Rectangle 21"/>
          <p:cNvSpPr/>
          <p:nvPr/>
        </p:nvSpPr>
        <p:spPr>
          <a:xfrm rot="2280000">
            <a:off x="1691640" y="1874519"/>
            <a:ext cx="1828800" cy="36576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9320000">
            <a:off x="1691640" y="2697480"/>
            <a:ext cx="1828800" cy="36576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3840480"/>
            <a:ext cx="5394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各足 → hip / thigh / calf の 3 関節（合計 12）。脚ごとに位相を保持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軟結合で対角構造へ引き戻し、Δab/Δa/Δb で不整地のずれを学習可能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接地立ち上がりで位相をスタンス（0）へ引き込み（entrain）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sin(φ) で振り、持ち上げは relu(−sin(φ))。後退は amp 符号で、すね位相を 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621792"/>
            <a:ext cx="5943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方策が出す CPG 15 パラメータ（リズム 10 ＋ 位相適応 5）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896112"/>
            <a:ext cx="5943600" cy="2331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0–9  freq / amp / thigh / calf / lift / hip_lat / hip_yaw / turn / bias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10 dphi_ab　ペア B の π からのずれ（対角のタイミング）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11 dphi_a　　ペア A 内（RR 相対 FL）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12 dphi_b　　ペア B 内（RL 相対 FR）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13 couple　　対角への軟結合の強さ（弱いほど独立）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14 entrain　接地時にスタンス位相へ引き込む強さ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教師は Δ=0・couple≈1・entrain≈0（硬い対角トロット）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LegCPG が 12 関節指令へ展開 → 脚 PD（kp60/kd1.5）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246120"/>
            <a:ext cx="5943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腕の逆運動学（IK）＋残差　reach / haul / carry / catch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520440"/>
            <a:ext cx="59436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① EE 目標を選ぶ（到達点・箱・目標・ボール予測など）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② 数値 IK（減衰最小二乗）でベース姿勢 q_ik を解く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③ 方策の腕 Δq 6 を ×0.12 rad して加算　q = q_ik + 0.12·Δq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④ 指は段階の開閉ベース + 残差 ×0.35　→ 腕・指 PD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歩行（walk）では腕レーンは使わない（CPG のみ／腕は固定や乱数保持）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BC・GAIL・PPO は同じ 22 次元（CPG15＋腕6＋指1）を共有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5989320"/>
            <a:ext cx="11658600" cy="685800"/>
          </a:xfrm>
          <a:prstGeom prst="rect">
            <a:avLst/>
          </a:prstGeom>
          <a:solidFill>
            <a:srgbClr val="D7E4E8"/>
          </a:solidFill>
          <a:ln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まとめ　方策は歩容つまみ＋位相適応（15）と手先微調整を学習。平坦では硬い対角トロット、不整地では Δ・couple・entrain で接地タイミングをずらす。腕の大きな移動は IK、細かい合わせ込みは残差 RL。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制御の比較（以前 → 今回）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同じ観測 81。行動だけ 19（脚 12 直接）から 17（CPG 15 + 腕残差）へ。構造を環境側に寄せた。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715000" cy="5440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715000" cy="347472"/>
          </a:xfrm>
          <a:prstGeom prst="rect">
            <a:avLst/>
          </a:prstGeom>
          <a:solidFill>
            <a:srgbClr val="4A5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以前　行動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477256" cy="49286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　12　立ち姿勢からの差分を直接指令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　6　初期姿勢からの差分を直接指令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　1　開閉を直接指令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特徴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・歩容の周期性をゼロから探す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・手先の大きな移動も方策の探索任せ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・次元が多く、模倣教師も 19 次元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向いていたこと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・単純な追従や短い課題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つらかったこと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・長い歩行でばらつきが関節端へ張り付く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・reach 以降の腕の探索が広い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440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今回　行動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49286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　CPG 15　→ 環境が 12 関節へ展開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　IK ベース + 残差 ×0.12 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　段階ベース開閉 + 残差 ×0.35 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特徴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・歩容の形は CPG、方策はパラメータ調整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・手先の大まかな位置は IK、方策は微調整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・BC / GAIL / PPO が同じ 17 次元を共有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向いていること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・歩行暖機（教師 CPG → 模倣 → PPO）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・到達・箱運び・キャッチの手先合わせ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注意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・旧 19 次元や旧・腕フル指令の重みは使えない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・walk では腕残差は方策外（マスク）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問題設定と環境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四足が不整地を渡り、背中の腕で箱を拾い、もう一度不整地を渡って目標へ置く。1試行は 20 秒。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246120"/>
            <a:ext cx="11201400" cy="256032"/>
          </a:xfrm>
          <a:prstGeom prst="rect">
            <a:avLst/>
          </a:prstGeom>
          <a:solidFill>
            <a:srgbClr val="E7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2700337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57016"/>
            <a:ext cx="2700337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出発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3257" y="3246120"/>
            <a:ext cx="600074" cy="256032"/>
          </a:xfrm>
          <a:prstGeom prst="rect">
            <a:avLst/>
          </a:prstGeom>
          <a:solidFill>
            <a:srgbClr val="C4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8954" y="3557016"/>
            <a:ext cx="868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3382" y="3246120"/>
            <a:ext cx="2200274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3382" y="3557016"/>
            <a:ext cx="2200274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拾う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246120"/>
            <a:ext cx="1300162" cy="256032"/>
          </a:xfrm>
          <a:prstGeom prst="rect">
            <a:avLst/>
          </a:prstGeom>
          <a:solidFill>
            <a:srgbClr val="C4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3557016"/>
            <a:ext cx="130016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03945" y="3246120"/>
            <a:ext cx="2500312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03945" y="3557016"/>
            <a:ext cx="250031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置く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3262" y="2935224"/>
            <a:ext cx="520065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3732" y="2935224"/>
            <a:ext cx="460057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03819" y="2935224"/>
            <a:ext cx="440055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01952" y="2862072"/>
            <a:ext cx="420624" cy="201168"/>
          </a:xfrm>
          <a:prstGeom prst="rect">
            <a:avLst/>
          </a:prstGeom>
          <a:solidFill>
            <a:srgbClr val="5C6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2587752"/>
            <a:ext cx="8229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Go2+腕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81269" y="3081527"/>
            <a:ext cx="164592" cy="164592"/>
          </a:xfrm>
          <a:prstGeom prst="rect">
            <a:avLst/>
          </a:prstGeom>
          <a:solidFill>
            <a:srgbClr val="E07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7805" y="2807208"/>
            <a:ext cx="7315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箱 4cm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4057" y="3172968"/>
            <a:ext cx="1000125" cy="73152"/>
          </a:xfrm>
          <a:prstGeom prst="rect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6897" y="2880360"/>
            <a:ext cx="1274445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914400"/>
            <a:ext cx="11155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断面は高さを強調。茶色の段は選択時のみ（箱の前に1段、置く前に2段）。選ばなければ同じ位置が低い波。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0  箱へ歩く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胴体から 0.55 m より遠い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  拾う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0.55 m 以内で腕を出す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2  運ぶ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79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つかんだまま目標へ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  置く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目標まで 0.45 m 以内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5303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地面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0468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箱と目標の下は平ら。波は 3.5 cm。段差は 4.5 cm または 6 cm で、位置は毎回 ±2 cm。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12080"/>
            <a:ext cx="5303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成功と失敗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50468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目標の半径 0.28 m、箱の高さ 0.08 m 未満で成功。傾き 60° または胴体 0.18 m 未満で転倒。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段階的な学習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歩行を土台に、到達とキャッチを足す。箱運びはそのまま残す。全段階が観測 81・行動 22（CPG+腕）なので、重みを引き継ぐ。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段階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  歩行　立つ・歩く・旋回。平地から始め、地形へ広げる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2  到達　歩行の重みから。空中の点へ手先を届かせる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  歩きながら持つ　到達の重みから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4  箱運び　持ち歩きの重みから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5  キャッチ　到達の重みから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静止 → ゆっくり → ばらす → 飛ぶ → ノイズ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次の段階へ進むかは、録画を見て決める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重みの渡し方と、その報酬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同じ観測と行動で、直前の重みを初期値にする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 → 到達 → 持ち歩き → 箱運び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到達 → キャッチ（静止から順に）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歩行は腕を勝手に動かして学ぶ（腕の揺れに強くする）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腕は Unitree Z1 だけ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今までの Panda の保存は使えない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歩行の点は、指令した速度への一致（legged_gym 標準）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足を上げる時間、胴の揺れ、力の大きさは罰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記録の tracking は 0〜1。1 が一致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到達・キャッチの点は、手をボールへ近づける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速度を揃える、指のあいだで保持する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人の点数で、この報酬は置き換えていない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学習の工夫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一度に全部を覚えさせない。できた能力は次へ渡し、成績が落ちたら易しい課題へ戻してから上げる。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覚え方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歩行と把持を同時にゼロから学ばせない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段階は、歩行 → 到達 → 持ち歩き → 箱運び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到達 → キャッチ（5 段階のボール）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同じ観測 81・行動 22（CPG + 腕 IK 残差）です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直前の段階の重みを初期値にする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脚は CPG、腕は IK ベース＋小さな残差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腕は Unitree Z1 だけ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旧 19 次元や腕フル指令の保存は使えない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報酬と、難しさの戻し方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成功の瞬間だけでは学ばない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毎ステップ、接近・速度の一致・生存で点を出す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箱運びは段階で出す点を変える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歩くときは前進、拾うときは把持、置くときは設置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歩行の記録は tracking。1 が指令どおり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8 回続けて成績が低いと、一段易しくする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歩行の地形 → 半分 → 平地（平地から始める）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ノイズ → 飛ぶ → ばらす → ゆっくり → 静止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8 回続けて回復すると、選んだ課題まで上げる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メニューでは、上の段階の重みで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易しい課題を学び直せる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報酬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1ステップごとに点を足す。置ける・つかむなどの出来事は、その瞬間に一度だけ足す。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増える点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前進　秒速 0.40 m に近いほど高い。係数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歩行だけの学習では係数 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接近　手先が箱に近づく　係数 1.5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胴体が箱に近づく　係数 0.4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形　箱の近くで指を閉じる　係数 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把持　新しくつかんだ瞬間　+5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運搬　つかんだ箱が目標に近い　係数 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接近距離　1歩で縮めた距離 × 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1歩あたり最大 5 cm まで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設置　目標に置けた瞬間　+10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離す　置く段階で指を開く　係数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生存　転んでいなければ毎歩　係数 0.3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減る点と、出すタイミング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転倒　傾き 60° または高さ 0.18 m 未満　−5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横滑り　横速度と旋回が大きいと減点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操作量　関節への指令が大きいと減点　係数 0.02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0　箱へ歩くとき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前進、胴体の接近、生存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1　拾うとき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手先の接近、指を閉じる形、把持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2　運ぶとき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前進、運搬、生存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3　置くとき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設置、指を開く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歩行のみの学習では、把持と設置の点は出さない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歩行は速度の一致。到達・キャッチは接近と保持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Loss と学習曲線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更新は、方策 Loss ＋ 1.0 × 価値 Loss − 0.01 × エントロピー。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62356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62356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3つの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38581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 Loss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良かった行動の確率を上げる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変化は clip 0.2 までに制限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ゼロ付近なら更新は小さい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価値 Loss　係数 1.0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これからの報酬合計の予測誤差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0.5 ×（実際 − 予測）の二乗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エントロピー　係数 0.01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行動のばらつきを少し残す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引き算なので、探索が報酬になる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曲線の見方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報酬・把持率は上向きが良い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手先と箱の距離は下向きが良い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方策 Loss は 0 の近くに落ち着く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歩行の記録は tracking。1 が指令どおり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右の4枚は箱運びの曲線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194560"/>
            <a:ext cx="5486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学習記録がまだ無いので、曲線は空です。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