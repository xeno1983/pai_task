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09728"/>
            <a:ext cx="1133856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最終課題の目的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94360"/>
            <a:ext cx="1133856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四足ロボット（Go2）にアーム（Z1）を載せた構成で、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不整地を歩いて「箱」を所定位置まで運ぶ方策を学習すること。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1874519"/>
            <a:ext cx="57150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874519"/>
            <a:ext cx="5715000" cy="347472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やりたいこと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2295143"/>
            <a:ext cx="5477256" cy="410565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アーム付き四足で不整地を渡り、箱を拾う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もう一度不整地を渡り、目標へ置く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脚の歩行と腕の操作を一つの方策で扱う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手先制御は、将来のキャッチ課題にもつなげる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874519"/>
            <a:ext cx="5715000" cy="4617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874519"/>
            <a:ext cx="5715000" cy="347472"/>
          </a:xfrm>
          <a:prstGeom prst="rect">
            <a:avLst/>
          </a:prstGeom>
          <a:solidFill>
            <a:srgbClr val="8A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難しい点と対応方針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2295143"/>
            <a:ext cx="5477256" cy="410565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① いきなり箱運びは難しい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→ 教師 CPG を BC で模倣し、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歩行 → 到達 → 箱運びと段階を上げる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② 脚 12 関節と腕を同時探索すると重い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→ 脚は CPG、腕は解析 IK＋残差に構造化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ロボットと問題設定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20624"/>
            <a:ext cx="11521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Genesis 上の Unitree Go2 ＋ Z1。平地→不整地→拾う→不整地→置く。1 試行 20 秒。</a:t>
            </a:r>
          </a:p>
        </p:txBody>
      </p:sp>
      <p:pic>
        <p:nvPicPr>
          <p:cNvPr id="5" name="Picture 4" descr="robot_sim_go2_z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822960"/>
            <a:ext cx="6949440" cy="38862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452360" y="822960"/>
            <a:ext cx="4434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822960"/>
            <a:ext cx="4434840" cy="347472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モデル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0376" y="1243584"/>
            <a:ext cx="4197096" cy="209397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胴体　Go2（四足）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　3 関節 × 4 ＝ 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　Z1（6 軸＋グリッパ）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手先 TCP を解析 IK の目標に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52360" y="3566160"/>
            <a:ext cx="443484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52360" y="3566160"/>
            <a:ext cx="4434840" cy="347472"/>
          </a:xfrm>
          <a:prstGeom prst="rect">
            <a:avLst/>
          </a:prstGeom>
          <a:solidFill>
            <a:srgbClr val="8A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課題の流れ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0376" y="3986784"/>
            <a:ext cx="4197096" cy="24140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出発（平地）→ 不整地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→ 箱を拾う → 不整地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→ 目標へ置く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成功：目標近く・低く置く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失敗：大きく傾くと転倒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1133856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制御方針（CPG＋IK）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365760"/>
            <a:ext cx="115214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脚は CPG（4 振動子・対角トロット）が 12 関節へ展開。腕は解析ヤコビアン IK ベース＋小さな残差。最後は PD。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91840" y="658368"/>
            <a:ext cx="5577840" cy="804672"/>
          </a:xfrm>
          <a:prstGeom prst="roundRect">
            <a:avLst>
              <a:gd name="adj" fmla="val 8000"/>
            </a:avLst>
          </a:prstGeom>
          <a:solidFill>
            <a:srgbClr val="D7E4E8"/>
          </a:solidFill>
          <a:ln w="15875"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364992" y="713232"/>
            <a:ext cx="54315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方策（Actor）　行動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64992" y="969264"/>
            <a:ext cx="5431536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CPG パラメータ 15 ＋ 腕残差 Δq 6 ＋ 指残差 Δg 1　（おおよそ −1〜1）</a:t>
            </a:r>
          </a:p>
        </p:txBody>
      </p:sp>
      <p:sp>
        <p:nvSpPr>
          <p:cNvPr id="8" name="Down Arrow 7"/>
          <p:cNvSpPr/>
          <p:nvPr/>
        </p:nvSpPr>
        <p:spPr>
          <a:xfrm>
            <a:off x="5897880" y="1481328"/>
            <a:ext cx="164592" cy="219456"/>
          </a:xfrm>
          <a:prstGeom prst="downArrow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2608" y="1719072"/>
            <a:ext cx="5486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脚レーン（全段階）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719072"/>
            <a:ext cx="566928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腕レーン（reach / haul / carry / catch）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" y="2029968"/>
            <a:ext cx="1691640" cy="1097280"/>
          </a:xfrm>
          <a:prstGeom prst="roundRect">
            <a:avLst>
              <a:gd name="adj" fmla="val 8000"/>
            </a:avLst>
          </a:prstGeom>
          <a:solidFill>
            <a:srgbClr val="D9E8DF"/>
          </a:solidFill>
          <a:ln w="15875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2"/>
            <a:ext cx="15453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① CPG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340864"/>
            <a:ext cx="1545336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周波数・振幅・持ち上げ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姿勢・旋回など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002536" y="2487168"/>
            <a:ext cx="164592" cy="164592"/>
          </a:xfrm>
          <a:prstGeom prst="rightArrow">
            <a:avLst/>
          </a:prstGeom>
          <a:solidFill>
            <a:srgbClr val="2C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85416" y="2029968"/>
            <a:ext cx="1691640" cy="1097280"/>
          </a:xfrm>
          <a:prstGeom prst="roundRect">
            <a:avLst>
              <a:gd name="adj" fmla="val 8000"/>
            </a:avLst>
          </a:prstGeom>
          <a:solidFill>
            <a:srgbClr val="D9E8DF"/>
          </a:solidFill>
          <a:ln w="15875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58568" y="2084832"/>
            <a:ext cx="15453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② 環境内 CPG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58568" y="2340864"/>
            <a:ext cx="1545336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対角トロットで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12 関節へ展開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3895344" y="2487168"/>
            <a:ext cx="164592" cy="164592"/>
          </a:xfrm>
          <a:prstGeom prst="rightArrow">
            <a:avLst/>
          </a:prstGeom>
          <a:solidFill>
            <a:srgbClr val="2C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078224" y="2029968"/>
            <a:ext cx="1691640" cy="1097280"/>
          </a:xfrm>
          <a:prstGeom prst="roundRect">
            <a:avLst>
              <a:gd name="adj" fmla="val 8000"/>
            </a:avLst>
          </a:prstGeom>
          <a:solidFill>
            <a:srgbClr val="E8E4DC"/>
          </a:solidFill>
          <a:ln w="15875">
            <a:solidFill>
              <a:srgbClr val="4A5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51376" y="2084832"/>
            <a:ext cx="15453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③ 脚 PD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51376" y="2340864"/>
            <a:ext cx="1545336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kp 60 / kd 1.5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→ Go2 脚 12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29968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F0E0D8"/>
          </a:solidFill>
          <a:ln w="15875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45352" y="2084832"/>
            <a:ext cx="159105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① EE → 解析 IK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45352" y="2340864"/>
            <a:ext cx="1591056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解析ヤコビアン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で q_ik を解く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27848" y="2487168"/>
            <a:ext cx="164592" cy="164592"/>
          </a:xfrm>
          <a:prstGeom prst="rightArrow">
            <a:avLst/>
          </a:prstGeom>
          <a:solidFill>
            <a:srgbClr val="8A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10728" y="2029968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F0E0D8"/>
          </a:solidFill>
          <a:ln w="15875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80" y="2084832"/>
            <a:ext cx="159105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② ＋ 残差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80" y="2340864"/>
            <a:ext cx="1591056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q_ik + 0.12·Δq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指 + 0.35·Δg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866376" y="2487168"/>
            <a:ext cx="164592" cy="164592"/>
          </a:xfrm>
          <a:prstGeom prst="rightArrow">
            <a:avLst/>
          </a:prstGeom>
          <a:solidFill>
            <a:srgbClr val="8A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049256" y="2029968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E8E4DC"/>
          </a:solidFill>
          <a:ln w="15875">
            <a:solidFill>
              <a:srgbClr val="4A5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22408" y="2084832"/>
            <a:ext cx="159105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③ 腕・指 PD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22408" y="2340864"/>
            <a:ext cx="1591056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 80/8　指 20/2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→ Z1 + グリッパ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92608" y="3246120"/>
            <a:ext cx="55321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2801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歩行（walk）では腕レーンを使わない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マスクは CPG のみ。腕は固定、または学習用にランダム保持。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246120"/>
            <a:ext cx="56692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12801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IK は解析ヤコビアン（数値差分ではない）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EE 目標（到達点・箱・置き場）→ q_ik → 残差で微調整。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2608" y="4389120"/>
            <a:ext cx="11567160" cy="2194560"/>
          </a:xfrm>
          <a:prstGeom prst="rect">
            <a:avLst/>
          </a:prstGeom>
          <a:solidFill>
            <a:srgbClr val="FFFFFF"/>
          </a:solidFill>
          <a:ln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4480560"/>
            <a:ext cx="111556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なぜこの分け方か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4800600"/>
            <a:ext cx="5486400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脚（CPG）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・12 関節を直接出さず、歩容の「つまみ」15 個にする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・位相は環境が持つので、リズムが崩れにくい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・BC の教師も同じ CPG 空間で教える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4800600"/>
            <a:ext cx="5394960" cy="1600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腕（解析 IK＋残差）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・大まかな手先位置は解析 IK が担当（探索を小さく）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・方策は微調整だけ → 学習が安定しやすい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・旧・腕フル指令の重みとは非互換（行動の意味が違う）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観測・制御量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20624"/>
            <a:ext cx="115214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全段階で観測 81・行動 22 を共有。位置は胴体基準（前が +X）。脚指令は CPG 展開後の 12 関節も観測に入れる。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04672"/>
            <a:ext cx="5715000" cy="5806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04672"/>
            <a:ext cx="5715000" cy="347472"/>
          </a:xfrm>
          <a:prstGeom prst="rect">
            <a:avLst/>
          </a:prstGeom>
          <a:solidFill>
            <a:srgbClr val="8A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観測　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25296"/>
            <a:ext cx="5477256" cy="529437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脚の角度・角速度　　各 12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重力方向 3、胴体並進・角速度 各 3、高さ 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足の接地　　4（接触力 1 N 超）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腕の角度・角速度　各 6、指の開閉・速度 各 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手先・物資・目標　各 3（胴体基準）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把持フラグ 1、段階 one-hot 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速度指令 3（キャッチ時は予測位置）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直前の脚指令 12（CPG が展開した関節）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804672"/>
            <a:ext cx="5715000" cy="5806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53912" y="804672"/>
            <a:ext cx="5715000" cy="347472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制御量　行動 22 → 関節目標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81928" y="1225296"/>
            <a:ext cx="5477256" cy="529437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方策出力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CPG 15　リズムのつまみ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腕 Δq 6　IK への残差（×0.12 rad）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指 Δg 1　開閉残差（×0.35）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環境側で組み立て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CPG → 脚 12 関節　PD kp60/kd1.5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IK + Δq → 腕 6　PD kp80/kd8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段階ベース + Δg → 指　PD kp20/kd2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学習設定（抜粋）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16 環境 × 128 step、γ0.99、clip0.2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1 試行 20 秒、dt 0.02 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13385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学習の流れ（BC → カリキュラム）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20624"/>
            <a:ext cx="115214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まず教師 CPG を BC でまね、そのあと PPO で段階を上げる。各段階の重みを次の初期値にする。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86868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D7E4E8"/>
          </a:solidFill>
          <a:ln w="15875"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923544"/>
            <a:ext cx="20025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① 教師 CPG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1179576"/>
            <a:ext cx="2002536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前進・左右旋回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06040" y="86868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D9E8DF"/>
          </a:solidFill>
          <a:ln w="15875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9192" y="923544"/>
            <a:ext cx="20025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② BC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9192" y="1179576"/>
            <a:ext cx="2002536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同じ 3 技能を模倣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0" y="86868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F0E0D8"/>
          </a:solidFill>
          <a:ln w="15875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923544"/>
            <a:ext cx="20025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③ 歩行 PPO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1179576"/>
            <a:ext cx="2002536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指令追従を強化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86868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D7E4E8"/>
          </a:solidFill>
          <a:ln w="15875"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2632" y="923544"/>
            <a:ext cx="20025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④ 到達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2" y="1179576"/>
            <a:ext cx="2002536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手先を空中点へ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86868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D9E8DF"/>
          </a:solidFill>
          <a:ln w="15875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74352" y="923544"/>
            <a:ext cx="20025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⑤ 箱運び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74352" y="1179576"/>
            <a:ext cx="2002536" cy="868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拾う・運ぶ・置く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2331720" y="1325880"/>
            <a:ext cx="237744" cy="164592"/>
          </a:xfrm>
          <a:prstGeom prst="rightArrow">
            <a:avLst/>
          </a:prstGeom>
          <a:solidFill>
            <a:srgbClr val="4A5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ight Arrow 20"/>
          <p:cNvSpPr/>
          <p:nvPr/>
        </p:nvSpPr>
        <p:spPr>
          <a:xfrm>
            <a:off x="4663440" y="1325880"/>
            <a:ext cx="237744" cy="164592"/>
          </a:xfrm>
          <a:prstGeom prst="rightArrow">
            <a:avLst/>
          </a:prstGeom>
          <a:solidFill>
            <a:srgbClr val="4A5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ight Arrow 21"/>
          <p:cNvSpPr/>
          <p:nvPr/>
        </p:nvSpPr>
        <p:spPr>
          <a:xfrm>
            <a:off x="6995160" y="1325880"/>
            <a:ext cx="237744" cy="164592"/>
          </a:xfrm>
          <a:prstGeom prst="rightArrow">
            <a:avLst/>
          </a:prstGeom>
          <a:solidFill>
            <a:srgbClr val="4A5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9326880" y="1325880"/>
            <a:ext cx="237744" cy="164592"/>
          </a:xfrm>
          <a:prstGeom prst="rightArrow">
            <a:avLst/>
          </a:prstGeom>
          <a:solidFill>
            <a:srgbClr val="4A5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56032" y="2377440"/>
            <a:ext cx="57150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56032" y="2377440"/>
            <a:ext cx="5715000" cy="347472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模倣（教師 → BC）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2798064"/>
            <a:ext cx="5477256" cy="364845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教師は開ループ CPG（対角トロット）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演示は前進・左旋回・右旋回のみ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BC が同じ行動空間（CPG 15）を学習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ここまでで「歩ける初期方策」を得る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2377440"/>
            <a:ext cx="571500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9632" y="2377440"/>
            <a:ext cx="5715000" cy="347472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カリキュラム（PPO）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2798064"/>
            <a:ext cx="5477256" cy="364845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　速度指令への一致を強化学習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到達　歩行重みから。手先を点へ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箱運び　拾って目標へ置く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（任意）キャッチは到達重みから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観測 81・行動 22 が全段階で共通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次段階へ進むかは録画を見て判断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73152"/>
            <a:ext cx="1133856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CPG ネットワーク（脚のリズム生成）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384048"/>
            <a:ext cx="11521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方策は関節を直接出さず、CPG のつまみ 15 個を出す。環境内の 4 振動子が対角トロットで 12 関節へ展開する。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777240"/>
            <a:ext cx="2331720" cy="1417320"/>
          </a:xfrm>
          <a:prstGeom prst="roundRect">
            <a:avLst>
              <a:gd name="adj" fmla="val 8000"/>
            </a:avLst>
          </a:prstGeom>
          <a:solidFill>
            <a:srgbClr val="D7E4E8"/>
          </a:solidFill>
          <a:ln w="15875"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832104"/>
            <a:ext cx="218541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方策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1088136"/>
            <a:ext cx="2185416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観測 81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→ CPG パラメータ 15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97480" y="1325880"/>
            <a:ext cx="256032" cy="164592"/>
          </a:xfrm>
          <a:prstGeom prst="rightArrow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063240" y="777240"/>
            <a:ext cx="2834640" cy="1417320"/>
          </a:xfrm>
          <a:prstGeom prst="roundRect">
            <a:avLst>
              <a:gd name="adj" fmla="val 8000"/>
            </a:avLst>
          </a:prstGeom>
          <a:solidFill>
            <a:srgbClr val="D9E8DF"/>
          </a:solidFill>
          <a:ln w="15875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36392" y="832104"/>
            <a:ext cx="26883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CPG デコード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6392" y="1088136"/>
            <a:ext cx="2688336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freq / amp / lift…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dphi・couple・entrain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89320" y="1325880"/>
            <a:ext cx="256032" cy="164592"/>
          </a:xfrm>
          <a:prstGeom prst="rightArrow">
            <a:avLst/>
          </a:prstGeom>
          <a:solidFill>
            <a:srgbClr val="2C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777240"/>
            <a:ext cx="2834640" cy="1417320"/>
          </a:xfrm>
          <a:prstGeom prst="roundRect">
            <a:avLst>
              <a:gd name="adj" fmla="val 8000"/>
            </a:avLst>
          </a:prstGeom>
          <a:solidFill>
            <a:srgbClr val="F0E0D8"/>
          </a:solidFill>
          <a:ln w="15875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832104"/>
            <a:ext cx="268833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4 振動子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1088136"/>
            <a:ext cx="2688336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FL・FR・RL・RR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各足が位相 φ を保持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281160" y="1325880"/>
            <a:ext cx="256032" cy="164592"/>
          </a:xfrm>
          <a:prstGeom prst="rightArrow">
            <a:avLst/>
          </a:prstGeom>
          <a:solidFill>
            <a:srgbClr val="8A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46920" y="777240"/>
            <a:ext cx="2240280" cy="1417320"/>
          </a:xfrm>
          <a:prstGeom prst="roundRect">
            <a:avLst>
              <a:gd name="adj" fmla="val 8000"/>
            </a:avLst>
          </a:prstGeom>
          <a:solidFill>
            <a:srgbClr val="E8E4DC"/>
          </a:solidFill>
          <a:ln w="15875">
            <a:solidFill>
              <a:srgbClr val="4A5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20072" y="832104"/>
            <a:ext cx="20939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12 関節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72" y="1088136"/>
            <a:ext cx="2093976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hip/thigh/calf×4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→ 脚 PD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2377440"/>
            <a:ext cx="65836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振動子ネットワーク（対角トロット＋軟結合）</a:t>
            </a:r>
          </a:p>
        </p:txBody>
      </p:sp>
      <p:sp>
        <p:nvSpPr>
          <p:cNvPr id="21" name="Oval 20"/>
          <p:cNvSpPr/>
          <p:nvPr/>
        </p:nvSpPr>
        <p:spPr>
          <a:xfrm>
            <a:off x="502920" y="2788920"/>
            <a:ext cx="1554480" cy="960120"/>
          </a:xfrm>
          <a:prstGeom prst="ellipse">
            <a:avLst/>
          </a:prstGeom>
          <a:solidFill>
            <a:srgbClr val="D9E8DF"/>
          </a:solidFill>
          <a:ln w="22225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953512"/>
            <a:ext cx="1554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FL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24612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A　φ</a:t>
            </a:r>
          </a:p>
        </p:txBody>
      </p:sp>
      <p:sp>
        <p:nvSpPr>
          <p:cNvPr id="24" name="Oval 23"/>
          <p:cNvSpPr/>
          <p:nvPr/>
        </p:nvSpPr>
        <p:spPr>
          <a:xfrm>
            <a:off x="2743200" y="2788920"/>
            <a:ext cx="1554480" cy="960120"/>
          </a:xfrm>
          <a:prstGeom prst="ellipse">
            <a:avLst/>
          </a:prstGeom>
          <a:solidFill>
            <a:srgbClr val="F0E0D8"/>
          </a:solidFill>
          <a:ln w="22225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43200" y="2953512"/>
            <a:ext cx="1554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FR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324612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B　φ＋π</a:t>
            </a:r>
          </a:p>
        </p:txBody>
      </p:sp>
      <p:sp>
        <p:nvSpPr>
          <p:cNvPr id="27" name="Oval 26"/>
          <p:cNvSpPr/>
          <p:nvPr/>
        </p:nvSpPr>
        <p:spPr>
          <a:xfrm>
            <a:off x="502920" y="4069080"/>
            <a:ext cx="1554480" cy="960120"/>
          </a:xfrm>
          <a:prstGeom prst="ellipse">
            <a:avLst/>
          </a:prstGeom>
          <a:solidFill>
            <a:srgbClr val="F0E0D8"/>
          </a:solidFill>
          <a:ln w="22225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233672"/>
            <a:ext cx="1554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RL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452628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B</a:t>
            </a:r>
          </a:p>
        </p:txBody>
      </p:sp>
      <p:sp>
        <p:nvSpPr>
          <p:cNvPr id="30" name="Oval 29"/>
          <p:cNvSpPr/>
          <p:nvPr/>
        </p:nvSpPr>
        <p:spPr>
          <a:xfrm>
            <a:off x="2743200" y="4069080"/>
            <a:ext cx="1554480" cy="960120"/>
          </a:xfrm>
          <a:prstGeom prst="ellipse">
            <a:avLst/>
          </a:prstGeom>
          <a:solidFill>
            <a:srgbClr val="D9E8DF"/>
          </a:solidFill>
          <a:ln w="22225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0" y="4233672"/>
            <a:ext cx="155448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RR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0" y="4526280"/>
            <a:ext cx="1554480" cy="3200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2880360"/>
            <a:ext cx="233172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軟結合 couple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対角の位相へ引き戻す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Δab / Δa / Δb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不整地用のずれ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entrain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接地でスタンスへ引く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40880" y="2377440"/>
            <a:ext cx="4800600" cy="3886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040880" y="2377440"/>
            <a:ext cx="4800600" cy="347472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なぜ CPG 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2798064"/>
            <a:ext cx="4562856" cy="337413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12 関節を直接学習すると探索が重い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リズム構造を環境側に置き、方策は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周波数・振幅・旋回などのつまみだけ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教師（CPG）→ BC → PPO と同一の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行動空間（CPG 15）を共有できる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平坦では硬い対角トロット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不整地では位相適応 5 つで接地をずらす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展開後は sin(φ) で振り、持ち上げは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relu(−sin(φ))。後退は amp の符号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56032" y="54864"/>
            <a:ext cx="11521440" cy="310896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CPG と逆運動学（IK）を使った学習　—　詳細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347472"/>
            <a:ext cx="1152144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方策は 22 次元。脚は対角トロット CPG（位相オフセット・軟結合・接地引き込み付き）、手先は解析ヤコビアン IK＋残差。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" y="621792"/>
            <a:ext cx="58521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脚 CPG：どの足にどうつながるか（上から見た対角トロット）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417320" y="1417320"/>
            <a:ext cx="2377440" cy="2148840"/>
          </a:xfrm>
          <a:prstGeom prst="roundRect">
            <a:avLst>
              <a:gd name="adj" fmla="val 8000"/>
            </a:avLst>
          </a:prstGeom>
          <a:solidFill>
            <a:srgbClr val="E8E4DC"/>
          </a:solidFill>
          <a:ln w="15875">
            <a:solidFill>
              <a:srgbClr val="4A5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2148840"/>
            <a:ext cx="23774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胴体 base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95728"/>
            <a:ext cx="23774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+X 前＝グリッパ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633472"/>
            <a:ext cx="2377440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（アームは後ろ寄り）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00584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D9E8DF"/>
          </a:solidFill>
          <a:ln w="19050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078992"/>
            <a:ext cx="1417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FL 左前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" y="1353312"/>
            <a:ext cx="1307592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A
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100584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F0E0D8"/>
          </a:solidFill>
          <a:ln w="19050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40" y="1078992"/>
            <a:ext cx="1417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FR 右前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5304" y="1353312"/>
            <a:ext cx="1307592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B
φ＋π＋Δab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283464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F0E0D8"/>
          </a:solidFill>
          <a:ln w="19050">
            <a:solidFill>
              <a:srgbClr val="8A4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907792"/>
            <a:ext cx="1417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RL 左後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" y="3182112"/>
            <a:ext cx="1307592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B
φ＋π＋Δab＋Δb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2834640"/>
            <a:ext cx="1417320" cy="868680"/>
          </a:xfrm>
          <a:prstGeom prst="roundRect">
            <a:avLst>
              <a:gd name="adj" fmla="val 10000"/>
            </a:avLst>
          </a:prstGeom>
          <a:solidFill>
            <a:srgbClr val="D9E8DF"/>
          </a:solidFill>
          <a:ln w="19050">
            <a:solidFill>
              <a:srgbClr val="2C64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0440" y="2907792"/>
            <a:ext cx="14173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RR 右後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75304" y="3182112"/>
            <a:ext cx="1307592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ペア A
φ＋Δa</a:t>
            </a:r>
          </a:p>
        </p:txBody>
      </p:sp>
      <p:sp>
        <p:nvSpPr>
          <p:cNvPr id="22" name="Rectangle 21"/>
          <p:cNvSpPr/>
          <p:nvPr/>
        </p:nvSpPr>
        <p:spPr>
          <a:xfrm rot="2280000">
            <a:off x="1691640" y="1874519"/>
            <a:ext cx="1828800" cy="36576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19320000">
            <a:off x="1691640" y="2697480"/>
            <a:ext cx="1828800" cy="36576"/>
          </a:xfrm>
          <a:prstGeom prst="rect">
            <a:avLst/>
          </a:prstGeom>
          <a:solidFill>
            <a:srgbClr val="8A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3840480"/>
            <a:ext cx="5394960" cy="10515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各足 → hip / thigh / calf の 3 関節（合計 12）。脚ごとに位相を保持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軟結合で対角構造へ引き戻し、Δab/Δa/Δb で不整地のずれを学習可能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接地立ち上がりで位相をスタンス（0）へ引き込み（entrain）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sin(φ) で振り、持ち上げは relu(−sin(φ))。後退は amp 符号で、すね位相を 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621792"/>
            <a:ext cx="5943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方策が出す CPG 15 パラメータ（リズム 10 ＋ 位相適応 5）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896112"/>
            <a:ext cx="5943600" cy="23317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0–9  freq / amp / thigh / calf / lift / hip_lat / hip_yaw / turn / bias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10 dphi_ab　ペア B の π からのずれ（対角のタイミング）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11 dphi_a　　ペア A 内（RR 相対 FL）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12 dphi_b　　ペア B 内（RL 相対 FR）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13 couple　　対角への軟結合の強さ（弱いほど独立）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14 entrain　接地時にスタンス位相へ引き込む強さ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教師は Δ=0・couple≈1・entrain≈0（硬い対角トロット）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→ LegCPG が 12 関節指令へ展開 → 脚 PD（kp60/kd1.5）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3246120"/>
            <a:ext cx="594360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腕の逆運動学（IK）＋残差　reach / haul / carry / catch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3520440"/>
            <a:ext cx="5943600" cy="187451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① EE 目標を選ぶ（到達点・箱・目標・ボール予測など）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② 解析ヤコビアン IK（減衰最小二乗）でベース姿勢 q_ik を解く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③ 方策の腕 Δq 6 を ×0.12 rad して加算　q = q_ik + 0.12·Δq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④ 指は段階の開閉ベース + 残差 ×0.35　→ 腕・指 PD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歩行（walk）では腕レーンは使わない（CPG のみ／腕は固定や乱数保持）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BC・GAIL・PPO は同じ 22 次元（CPG15＋腕6＋指1）を共有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5989320"/>
            <a:ext cx="11658600" cy="685800"/>
          </a:xfrm>
          <a:prstGeom prst="rect">
            <a:avLst/>
          </a:prstGeom>
          <a:solidFill>
            <a:srgbClr val="D7E4E8"/>
          </a:solidFill>
          <a:ln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053328"/>
            <a:ext cx="114300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まとめ　方策は歩容つまみ＋位相適応（15）と手先微調整を学習。平坦では硬い対角トロット、不整地では Δ・couple・entrain で接地タイミングをずらす。腕の大きな移動は IK、細かい合わせ込みは残差 RL。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制御の比較（以前 → 今回）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同じ観測 81。行動だけ 19（脚 12 直接）から 17（CPG 15 + 腕残差）へ。構造を環境側に寄せた。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68680"/>
            <a:ext cx="5715000" cy="5440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5715000" cy="347472"/>
          </a:xfrm>
          <a:prstGeom prst="rect">
            <a:avLst/>
          </a:prstGeom>
          <a:solidFill>
            <a:srgbClr val="4A58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以前　行動 19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89304"/>
            <a:ext cx="5477256" cy="49286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　12　立ち姿勢からの差分を直接指令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　6　初期姿勢からの差分を直接指令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指　1　開閉を直接指令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特徴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・歩容の周期性をゼロから探す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・手先の大きな移動も方策の探索任せ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・次元が多く、模倣教師も 19 次元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向いていたこと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・単純な追従や短い課題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つらかったこと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・長い歩行でばらつきが関節端へ張り付く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・reach 以降の腕の探索が広い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868680"/>
            <a:ext cx="5715000" cy="5440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868680"/>
            <a:ext cx="5715000" cy="347472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今回　行動 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1289304"/>
            <a:ext cx="5477256" cy="49286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　CPG 15　→ 環境が 12 関節へ展開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　IK ベース + 残差 ×0.12 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指　段階ベース開閉 + 残差 ×0.35 rad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特徴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・歩容の形は CPG、方策はパラメータ調整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・手先の大まかな位置は IK、方策は微調整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・BC / PPO が同じ 22 次元を共有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向いていること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・歩行暖機（教師 CPG → 模倣 → PPO）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・到達・箱運び・キャッチの手先合わせ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注意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・旧 19 次元や旧・腕フル指令の重みは使えない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・walk では腕残差は方策外（マスク）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問題設定と環境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四足が不整地を渡り、背中の腕で箱を拾い、もう一度不整地を渡って目標へ置く。1試行は 20 秒。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3246120"/>
            <a:ext cx="11201400" cy="256032"/>
          </a:xfrm>
          <a:prstGeom prst="rect">
            <a:avLst/>
          </a:prstGeom>
          <a:solidFill>
            <a:srgbClr val="E7E1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3246120"/>
            <a:ext cx="2700337" cy="256032"/>
          </a:xfrm>
          <a:prstGeom prst="rect">
            <a:avLst/>
          </a:prstGeom>
          <a:solidFill>
            <a:srgbClr val="D5E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557016"/>
            <a:ext cx="2700337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出発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3257" y="3246120"/>
            <a:ext cx="600074" cy="256032"/>
          </a:xfrm>
          <a:prstGeom prst="rect">
            <a:avLst/>
          </a:prstGeom>
          <a:solidFill>
            <a:srgbClr val="C4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8954" y="3557016"/>
            <a:ext cx="8686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不整地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3382" y="3246120"/>
            <a:ext cx="2200274" cy="256032"/>
          </a:xfrm>
          <a:prstGeom prst="rect">
            <a:avLst/>
          </a:prstGeom>
          <a:solidFill>
            <a:srgbClr val="D5E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3382" y="3557016"/>
            <a:ext cx="2200274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拾う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3246120"/>
            <a:ext cx="1300162" cy="256032"/>
          </a:xfrm>
          <a:prstGeom prst="rect">
            <a:avLst/>
          </a:prstGeom>
          <a:solidFill>
            <a:srgbClr val="C4B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3557016"/>
            <a:ext cx="130016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不整地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03945" y="3246120"/>
            <a:ext cx="2500312" cy="256032"/>
          </a:xfrm>
          <a:prstGeom prst="rect">
            <a:avLst/>
          </a:prstGeom>
          <a:solidFill>
            <a:srgbClr val="D5E6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03945" y="3557016"/>
            <a:ext cx="2500312" cy="256032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置く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3262" y="2935224"/>
            <a:ext cx="520065" cy="310896"/>
          </a:xfrm>
          <a:prstGeom prst="rect">
            <a:avLst/>
          </a:prstGeom>
          <a:solidFill>
            <a:srgbClr val="8A6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003732" y="2935224"/>
            <a:ext cx="460057" cy="310896"/>
          </a:xfrm>
          <a:prstGeom prst="rect">
            <a:avLst/>
          </a:prstGeom>
          <a:solidFill>
            <a:srgbClr val="8A6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03819" y="2935224"/>
            <a:ext cx="440055" cy="310896"/>
          </a:xfrm>
          <a:prstGeom prst="rect">
            <a:avLst/>
          </a:prstGeom>
          <a:solidFill>
            <a:srgbClr val="8A6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01952" y="2862072"/>
            <a:ext cx="420624" cy="201168"/>
          </a:xfrm>
          <a:prstGeom prst="rect">
            <a:avLst/>
          </a:prstGeom>
          <a:solidFill>
            <a:srgbClr val="5C6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91640" y="2587752"/>
            <a:ext cx="822960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Go2+腕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81269" y="3081527"/>
            <a:ext cx="164592" cy="164592"/>
          </a:xfrm>
          <a:prstGeom prst="rect">
            <a:avLst/>
          </a:prstGeom>
          <a:solidFill>
            <a:srgbClr val="E07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97805" y="2807208"/>
            <a:ext cx="7315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A452A"/>
                </a:solidFill>
                <a:latin typeface="Yu Gothic"/>
                <a:ea typeface="Yu Gothic"/>
                <a:cs typeface="Yu Gothic"/>
              </a:rPr>
              <a:t>箱 4cm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4057" y="3172968"/>
            <a:ext cx="1000125" cy="73152"/>
          </a:xfrm>
          <a:prstGeom prst="rect">
            <a:avLst/>
          </a:prstGeom>
          <a:solidFill>
            <a:srgbClr val="2C64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6897" y="2880360"/>
            <a:ext cx="1274445" cy="219456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C644A"/>
                </a:solidFill>
                <a:latin typeface="Yu Gothic"/>
                <a:ea typeface="Yu Gothic"/>
                <a:cs typeface="Yu Gothic"/>
              </a:rPr>
              <a:t>目標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914400"/>
            <a:ext cx="1115568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断面は高さを強調。茶色の段は選択時のみ（箱の前に1段、置く前に2段）。選ばなければ同じ位置が低い波。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60520"/>
            <a:ext cx="26060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224528"/>
            <a:ext cx="24231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0  箱へ歩く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535424"/>
            <a:ext cx="24231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胴体から 0.55 m より遠い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83280" y="4160520"/>
            <a:ext cx="26060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224528"/>
            <a:ext cx="24231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  拾う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74720" y="4535424"/>
            <a:ext cx="24231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0.55 m 以内で腕を出す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4160520"/>
            <a:ext cx="26060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79" y="4224528"/>
            <a:ext cx="24231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2  運ぶ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79" y="4535424"/>
            <a:ext cx="24231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つかんだまま目標へ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0" y="4160520"/>
            <a:ext cx="26060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35440" y="4224528"/>
            <a:ext cx="2423160" cy="292608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3  置く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4535424"/>
            <a:ext cx="2423160" cy="329184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目標まで 0.45 m 以内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212080"/>
            <a:ext cx="5303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地面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04688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箱と目標の下は平ら。波は 3.5 cm。段差は 4.5 cm または 6 cm で、位置は毎回 ±2 cm。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212080"/>
            <a:ext cx="53035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E5F"/>
                </a:solidFill>
                <a:latin typeface="Yu Gothic"/>
                <a:ea typeface="Yu Gothic"/>
                <a:cs typeface="Yu Gothic"/>
              </a:rPr>
              <a:t>成功と失敗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5504688"/>
            <a:ext cx="5303520" cy="7772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目標の半径 0.28 m、箱の高さ 0.08 m 未満で成功。傾き 60° または胴体 0.18 m 未満で転倒。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段階的な学習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歩行を土台に、到達とキャッチを足す。箱運びはそのまま残す。全段階が観測 81・行動 22（CPG+腕）なので、重みを引き継ぐ。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68680"/>
            <a:ext cx="580644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5806440" cy="347472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段階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89304"/>
            <a:ext cx="556869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1  歩行　立つ・歩く・旋回。平地から始め、地形へ広げる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2  到達　歩行の重みから。空中の点へ手先を届かせる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3  歩きながら持つ　到達の重みから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4  箱運び　持ち歩きの重みから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5  キャッチ　到達の重みから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静止 → ゆっくり → ばらす → 飛ぶ → ノイズ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次の段階へ進むかは、録画を見て決める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868680"/>
            <a:ext cx="571500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868680"/>
            <a:ext cx="5715000" cy="347472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重みの渡し方と、その報酬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1289304"/>
            <a:ext cx="547725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同じ観測と行動で、直前の重みを初期値にする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歩行 → 到達 → 持ち歩き → 箱運び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到達 → キャッチ（静止から順に）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歩行は腕を勝手に動かして学ぶ（腕の揺れに強くする）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腕は Unitree Z1 だけ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今までの Panda の保存は使えない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歩行の点は、指令した速度への一致（legged_gym 標準）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足を上げる時間、胴の揺れ、力の大きさは罰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記録の tracking は 0〜1。1 が一致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到達・キャッチの点は、手をボールへ近づける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速度を揃える、指のあいだで保持する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人の点数で、この報酬は置き換えていない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学習の工夫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一度に全部を覚えさせない。できた能力は次へ渡し、成績が落ちたら易しい課題へ戻してから上げる。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68680"/>
            <a:ext cx="580644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5806440" cy="347472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覚え方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89304"/>
            <a:ext cx="556869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歩行と把持を同時にゼロから学ばせない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段階は、歩行 → 到達 → 持ち歩き → 箱運び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到達 → キャッチ（5 段階のボール）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同じ観測 81・行動 22（CPG + 腕 IK 残差）です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直前の段階の重みを初期値にする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脚は CPG、腕は IK ベース＋小さな残差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腕は Unitree Z1 だけ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旧 19 次元や腕フル指令の保存は使えない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868680"/>
            <a:ext cx="571500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868680"/>
            <a:ext cx="5715000" cy="347472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報酬と、難しさの戻し方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1289304"/>
            <a:ext cx="547725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成功の瞬間だけでは学ばない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毎ステップ、接近・速度の一致・生存で点を出す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箱運びは段階で出す点を変える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歩くときは前進、拾うときは把持、置くときは設置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歩行の記録は tracking。1 が指令どおり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8 回続けて成績が低いと、一段易しくする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歩行の地形 → 半分 → 平地（平地から始める）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ノイズ → 飛ぶ → ばらす → ゆっくり → 静止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8 回続けて回復すると、選んだ課題まで上げる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メニューでは、上の段階の重みで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易しい課題を学び直せる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報酬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1ステップごとに点を足す。置ける・つかむなどの出来事は、その瞬間に一度だけ足す。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68680"/>
            <a:ext cx="580644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5806440" cy="347472"/>
          </a:xfrm>
          <a:prstGeom prst="rect">
            <a:avLst/>
          </a:prstGeom>
          <a:solidFill>
            <a:srgbClr val="2C6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増える点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89304"/>
            <a:ext cx="556869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前進　秒速 0.40 m に近いほど高い。係数 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歩行だけの学習では係数 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接近　手先が箱に近づく　係数 1.5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胴体が箱に近づく　係数 0.4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形　箱の近くで指を閉じる　係数 6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把持　新しくつかんだ瞬間　+5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運搬　つかんだ箱が目標に近い　係数 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接近距離　1歩で縮めた距離 × 8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1歩あたり最大 5 cm まで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設置　目標に置けた瞬間　+10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離す　置く段階で指を開く　係数 4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生存　転んでいなければ毎歩　係数 0.3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868680"/>
            <a:ext cx="571500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868680"/>
            <a:ext cx="5715000" cy="347472"/>
          </a:xfrm>
          <a:prstGeom prst="rect">
            <a:avLst/>
          </a:prstGeom>
          <a:solidFill>
            <a:srgbClr val="8A4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減る点と、出すタイミング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27648" y="1289304"/>
            <a:ext cx="547725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転倒　傾き 60° または高さ 0.18 m 未満　−5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横滑り　横速度と旋回が大きいと減点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操作量　関節への指令が大きいと減点　係数 0.02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 0　箱へ歩くとき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前進、胴体の接近、生存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 1　拾うとき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手先の接近、指を閉じる形、把持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 2　運ぶとき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前進、運搬、生存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段階 3　置くとき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　設置、指を開く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歩行のみの学習では、把持と設置の点は出さない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歩行は速度の一致。到達・キャッチは接近と保持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Loss と学習曲線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896" y="438912"/>
            <a:ext cx="11338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4A585C"/>
                </a:solidFill>
                <a:latin typeface="Yu Gothic"/>
                <a:ea typeface="Yu Gothic"/>
                <a:cs typeface="Yu Gothic"/>
              </a:rPr>
              <a:t>更新は、方策 Loss ＋ 1.0 × 価値 Loss − 0.01 × エントロピー。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" y="868680"/>
            <a:ext cx="5623560" cy="5669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868680"/>
            <a:ext cx="5623560" cy="347472"/>
          </a:xfrm>
          <a:prstGeom prst="rect">
            <a:avLst/>
          </a:prstGeom>
          <a:solidFill>
            <a:srgbClr val="1F4E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t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3つの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89304"/>
            <a:ext cx="5385816" cy="5157216"/>
          </a:xfrm>
          <a:prstGeom prst="rect">
            <a:avLst/>
          </a:prstGeom>
          <a:noFill/>
        </p:spPr>
        <p:txBody>
          <a:bodyPr wrap="square" lIns="0" rIns="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方策 Loss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良かった行動の確率を上げる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変化は clip 0.2 までに制限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ゼロ付近なら更新は小さい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価値 Loss　係数 1.0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これからの報酬合計の予測誤差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0.5 ×（実際 − 予測）の二乗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エントロピー　係数 0.01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行動のばらつきを少し残す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引き算なので、探索が報酬になる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/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曲線の見方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報酬・把持率は上向きが良い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手先と箱の距離は下向きが良い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　方策 Loss は 0 の近くに落ち着く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歩行の記録は tracking。1 が指令どおり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C282C"/>
                </a:solidFill>
                <a:latin typeface="Yu Gothic"/>
                <a:ea typeface="Yu Gothic"/>
                <a:cs typeface="Yu Gothic"/>
              </a:rPr>
              <a:t>右の4枚は箱運びの曲線</a:t>
            </a:r>
          </a:p>
        </p:txBody>
      </p:sp>
      <p:pic>
        <p:nvPicPr>
          <p:cNvPr id="8" name="Picture 7" descr="PickAndCarry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051560"/>
            <a:ext cx="5852160" cy="52120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