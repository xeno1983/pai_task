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9509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Pick-and-Carry　学習条件・観測・制御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57200"/>
            <a:ext cx="11521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Unitree Go2 ＋ 背中の Franka Panda　　PPO　　観測 68 次元・制御 20 次元（この寸法のまま重みを継続）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804672"/>
            <a:ext cx="3822191" cy="5833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804672"/>
            <a:ext cx="3822191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学習条件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3584447" cy="5321808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ロボット　Go2 の胴体に Panda を固定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方策　256×256 ELU、出力は −1〜1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更新　16 環境 × 128 step / iteration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最適化　Adam 3e-4、clip 0.2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割引　γ 0.99、λ 0.95、entropy 0.005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時間　dt 0.02 s、1 試行 20 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コース　平地 → 不整地 → 拾う → 不整地 → 置く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地面　波 3.5 cm、または段差 4.5 / 6 cm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箱と目標の下は平ら。段は毎回 ±2 cm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箱　一辺 4 cm。拾う 0.55 m、置く 0.45 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成功　目標の半径 0.28 m、高さ 0.08 m 未満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前進　0.40 m/s を追う。転倒 −5、設置 +10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分け方　歩行のみ／分割／同時 から選択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継続　logs/ppo_walk の保存重みから再開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9" y="804672"/>
            <a:ext cx="3822191" cy="5833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39" y="804672"/>
            <a:ext cx="3822191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観測　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5" y="1225296"/>
            <a:ext cx="3584447" cy="5321808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位置は胴体基準。前が +X、上が +Z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脚の角度　　　　12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脚の角速度　　　12　×0.05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重力の向き　　　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胴体の並進速度　3　×2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胴体の角速度　　3　×0.25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胴体の高さ　　　1　世界座標の 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足の接地　　　　4　接触力 1 N 超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腕の角度　　　　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腕の角速度　　　7　×0.05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指の開き　　　　1　0〜0.04 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指の速度　　　　1　×0.05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手先・物資・目標　各 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把持フラグ 1、段階 one-hot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カメラ時は物資の 3 つだけ検知位置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見えない物資は (0, 0, −1)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6" y="804672"/>
            <a:ext cx="3822191" cy="5833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6" y="804672"/>
            <a:ext cx="3822191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制御　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2" y="1225296"/>
            <a:ext cx="3584447" cy="5321808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位置制御。PD で目標角度へ追従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脚 12　立ち姿勢 + 出力 × 0.50 rad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hip 0、thigh 0.8、calf −1.5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kp 80 / kd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腕 7　初期姿勢 + 出力 × 1.2 rad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(0, 0.9, 0, −1.4, 0, 1.8, 0.7)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kp 120 / kd 12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指 1　−1 で閉じ、+1 で開き 0.04 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kp 40 / kd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把持　開き 0.012 m 未満、距離 0.12 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段階　0 歩く　1 拾う　2 運ぶ　3 置く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分割　0・2 は脚、1・3 は腕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歩行のみ　脚だけ。腕は固定、指は開く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同時　脚・腕・指をエピソード中ずっと出力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問題設定と環境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38912"/>
            <a:ext cx="11338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四足が不整地を渡り、背中の腕で箱を拾い、もう一度不整地を渡って目標へ置く。1試行は 20 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46120"/>
            <a:ext cx="11201400" cy="256032"/>
          </a:xfrm>
          <a:prstGeom prst="rect">
            <a:avLst/>
          </a:prstGeom>
          <a:solidFill>
            <a:srgbClr val="E7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2700337" cy="256032"/>
          </a:xfrm>
          <a:prstGeom prst="rect">
            <a:avLst/>
          </a:prstGeom>
          <a:solidFill>
            <a:srgbClr val="D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557016"/>
            <a:ext cx="2700337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出発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3257" y="3246120"/>
            <a:ext cx="600074" cy="256032"/>
          </a:xfrm>
          <a:prstGeom prst="rect">
            <a:avLst/>
          </a:prstGeom>
          <a:solidFill>
            <a:srgbClr val="C4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8954" y="3557016"/>
            <a:ext cx="868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不整地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382" y="3246120"/>
            <a:ext cx="2200274" cy="256032"/>
          </a:xfrm>
          <a:prstGeom prst="rect">
            <a:avLst/>
          </a:prstGeom>
          <a:solidFill>
            <a:srgbClr val="D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3382" y="3557016"/>
            <a:ext cx="2200274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拾う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3246120"/>
            <a:ext cx="1300162" cy="256032"/>
          </a:xfrm>
          <a:prstGeom prst="rect">
            <a:avLst/>
          </a:prstGeom>
          <a:solidFill>
            <a:srgbClr val="C4B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557016"/>
            <a:ext cx="130016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不整地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3945" y="3246120"/>
            <a:ext cx="2500312" cy="256032"/>
          </a:xfrm>
          <a:prstGeom prst="rect">
            <a:avLst/>
          </a:prstGeom>
          <a:solidFill>
            <a:srgbClr val="D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3945" y="3557016"/>
            <a:ext cx="25003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置く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3262" y="2935224"/>
            <a:ext cx="520065" cy="310896"/>
          </a:xfrm>
          <a:prstGeom prst="rect">
            <a:avLst/>
          </a:prstGeom>
          <a:solidFill>
            <a:srgbClr val="8A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3732" y="2935224"/>
            <a:ext cx="460057" cy="310896"/>
          </a:xfrm>
          <a:prstGeom prst="rect">
            <a:avLst/>
          </a:prstGeom>
          <a:solidFill>
            <a:srgbClr val="8A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03819" y="2935224"/>
            <a:ext cx="440055" cy="310896"/>
          </a:xfrm>
          <a:prstGeom prst="rect">
            <a:avLst/>
          </a:prstGeom>
          <a:solidFill>
            <a:srgbClr val="8A6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01952" y="2862072"/>
            <a:ext cx="420624" cy="201168"/>
          </a:xfrm>
          <a:prstGeom prst="rect">
            <a:avLst/>
          </a:prstGeom>
          <a:solidFill>
            <a:srgbClr val="5C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587752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Go2+腕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81269" y="3081527"/>
            <a:ext cx="164592" cy="164592"/>
          </a:xfrm>
          <a:prstGeom prst="rect">
            <a:avLst/>
          </a:prstGeom>
          <a:solidFill>
            <a:srgbClr val="E07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97805" y="2807208"/>
            <a:ext cx="7315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箱 4cm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4057" y="3172968"/>
            <a:ext cx="1000125" cy="73152"/>
          </a:xfrm>
          <a:prstGeom prst="rect">
            <a:avLst/>
          </a:prstGeom>
          <a:solidFill>
            <a:srgbClr val="2C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6897" y="2880360"/>
            <a:ext cx="1274445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644A"/>
                </a:solidFill>
                <a:latin typeface="Yu Gothic"/>
                <a:ea typeface="Yu Gothic"/>
                <a:cs typeface="Yu Gothic"/>
              </a:rPr>
              <a:t>目標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914400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断面は高さを強調。茶色の段は選択時のみ（箱の前に1段、置く前に2段）。選ばなければ同じ位置が低い波。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60520"/>
            <a:ext cx="26060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24528"/>
            <a:ext cx="2423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0  箱へ歩く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35424"/>
            <a:ext cx="2423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胴体から 0.55 m より遠い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160520"/>
            <a:ext cx="26060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224528"/>
            <a:ext cx="2423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  拾う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535424"/>
            <a:ext cx="2423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0.55 m 以内で腕を出す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160520"/>
            <a:ext cx="26060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4224528"/>
            <a:ext cx="2423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  運ぶ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4535424"/>
            <a:ext cx="2423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つかんだまま目標へ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160520"/>
            <a:ext cx="26060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224528"/>
            <a:ext cx="2423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 置く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535424"/>
            <a:ext cx="24231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目標まで 0.45 m 以内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21208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地面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504688"/>
            <a:ext cx="53035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箱と目標の下は平ら。波は 3.5 cm。段差は 4.5 cm または 6 cm で、位置は毎回 ±2 cm。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12080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成功と失敗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504688"/>
            <a:ext cx="53035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目標の半径 0.28 m、箱の高さ 0.08 m 未満で成功。傾き 60° または胴体 0.18 m 未満で転倒。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報酬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3891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1ステップごとに点を足す。置ける・つかむなどの出来事は、その瞬間に一度だけ足す。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868680"/>
            <a:ext cx="580644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868680"/>
            <a:ext cx="5806440" cy="347472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増える点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9304"/>
            <a:ext cx="5568696" cy="515721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前進　秒速 0.40 m に近いほど高い。係数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歩行だけの学習では係数 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接近　手先が箱に近づく　係数 1.5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胴体が箱に近づく　係数 0.4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形　箱の近くで指を閉じる　係数 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把持　新しくつかんだ瞬間　+5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運搬　つかんだ箱が目標に近い　係数 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接近距離　1歩で縮めた距離 × 8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1歩あたり最大 5 cm まで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設置　目標に置けた瞬間　+10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離す　置く段階で指を開く　係数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生存　転んでいなければ毎歩　係数 0.3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868680"/>
            <a:ext cx="571500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715000" cy="347472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減る点と、出すタイミング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289304"/>
            <a:ext cx="5477256" cy="515721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転倒　傾き 60° または高さ 0.18 m 未満　−5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横滑り　横速度と旋回が大きいと減点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操作量　関節への指令が大きいと減点　係数 0.02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段階 0　箱へ歩くとき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前進、胴体の接近、生存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段階 1　拾うとき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手先の接近、指を閉じる形、把持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段階 2　運ぶとき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前進、運搬、生存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段階 3　置くとき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　設置、指を開く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歩行のみの学習では、把持と設置の点は出さない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Loss と学習曲線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3891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更新は、方策 Loss ＋ 0.5 × 価値 Loss − 0.005 × エントロピー。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868680"/>
            <a:ext cx="5623560" cy="5669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868680"/>
            <a:ext cx="5623560" cy="347472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3つの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9304"/>
            <a:ext cx="5385816" cy="5157216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方策 Loss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良かった行動の確率を上げる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変化は clip 0.2 までに制限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ゼロ付近なら更新は小さい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価値 Loss　係数 0.5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これからの報酬合計の予測誤差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0.5 ×（実際 − 予測）の二乗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エントロピー　係数 0.005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行動のばらつきを少し残す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引き算なので、探索が報酬になる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曲線の見方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報酬・把持率は上向きが良い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手先と箱の距離は下向きが良い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　方策 Loss は 0 の近くに落ち着く</a:t>
            </a:r>
          </a:p>
        </p:txBody>
      </p:sp>
      <p:pic>
        <p:nvPicPr>
          <p:cNvPr id="8" name="Picture 7" descr="PickAndCarr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85216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