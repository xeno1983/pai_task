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14" y="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09728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最終課題の目的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3385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四足ロボット（</a:t>
            </a:r>
            <a:r>
              <a:rPr lang="en-US" altLang="ja-JP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Go2</a:t>
            </a: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）にアーム（</a:t>
            </a:r>
            <a:r>
              <a:rPr lang="en-US" altLang="ja-JP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Z1</a:t>
            </a: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）を載せた構成で、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ja-JP" altLang="en-US" sz="2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不整地を歩いて「箱」を所定位置まで運ぶ方策を学習すること。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874519"/>
            <a:ext cx="5715000" cy="2054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874519"/>
            <a:ext cx="57150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やりたいこと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295143"/>
            <a:ext cx="5477256" cy="97789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アーム付き四足で不整地を渡り、箱を拾う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もう一度不整地を渡り、目標へ置く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脚の歩行と腕の操作を一つの方策で扱う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6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手先制御は、将来のキャッチ課題にもつなげる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874518"/>
            <a:ext cx="5715000" cy="20544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1874519"/>
            <a:ext cx="571500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難しい点と対応方針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295142"/>
            <a:ext cx="5477256" cy="1633785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①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いきなり箱運びは難しい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教師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で模倣し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到達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箱運びと段階を上げる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② 脚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関節と腕を同時探索すると重い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→ 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脚は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、腕は解析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</a:t>
            </a:r>
            <a:r>
              <a:rPr lang="ja-JP" altLang="en-US" sz="1500" b="0" err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＋残差に構造化</a:t>
            </a:r>
            <a:endParaRPr lang="ja-JP" altLang="en-US" sz="14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12" name="Picture 4" descr="robot_sim_go2_z1.png">
            <a:extLst>
              <a:ext uri="{FF2B5EF4-FFF2-40B4-BE49-F238E27FC236}">
                <a16:creationId xmlns:a16="http://schemas.microsoft.com/office/drawing/2014/main" id="{03A22733-9B06-B597-C946-AB0DF061D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7" t="30127" r="14651" b="21163"/>
          <a:stretch>
            <a:fillRect/>
          </a:stretch>
        </p:blipFill>
        <p:spPr>
          <a:xfrm>
            <a:off x="2345849" y="4042822"/>
            <a:ext cx="7707565" cy="270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ロボットと問題設定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Genesis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上の </a:t>
            </a:r>
            <a:r>
              <a:rPr 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Unitree Go2 ＋ Z1。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平地→不整地→拾う→不整地→置く。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試行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20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秒。</a:t>
            </a:r>
          </a:p>
        </p:txBody>
      </p:sp>
      <p:pic>
        <p:nvPicPr>
          <p:cNvPr id="5" name="Picture 4" descr="robot_sim_go2_z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577340"/>
            <a:ext cx="694944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82296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822960"/>
            <a:ext cx="443484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モデル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0376" y="1243584"/>
            <a:ext cx="4197096" cy="1354337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胴体　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Go2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（四足）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　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× 4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＝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　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Z1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軸＋グリッパ）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TCP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を解析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の目標に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566160"/>
            <a:ext cx="44348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3566160"/>
            <a:ext cx="443484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課題の流れ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6" y="3986784"/>
            <a:ext cx="4197096" cy="241401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出発（平地）→ 不整地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箱を拾う → 不整地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目標へ置く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成功：目標近く・低く置く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失敗：大きく傾くと転倒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制御方針（</a:t>
            </a:r>
            <a:r>
              <a:rPr lang="en-US" altLang="zh-TW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zh-TW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</a:t>
            </a:r>
            <a:r>
              <a:rPr lang="en-US" altLang="zh-TW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</a:t>
            </a:r>
            <a:r>
              <a:rPr lang="zh-TW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脚は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4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振動子・対角トロット）が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関節へ展開。腕は解析ヤコビアン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ベース＋小さな残差。最後は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PD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223187"/>
            <a:ext cx="5577840" cy="1166774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64992" y="1302740"/>
            <a:ext cx="5431536" cy="37124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方策（</a:t>
            </a:r>
            <a:r>
              <a:rPr lang="en-US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Actor）　</a:t>
            </a:r>
            <a:r>
              <a:rPr lang="ja-JP" altLang="en-US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行動 </a:t>
            </a:r>
            <a:r>
              <a:rPr lang="en-US" altLang="ja-JP" sz="16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1673986"/>
            <a:ext cx="5431536" cy="63642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パラメータ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15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 腕残差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Δq 6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 指残差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Δg 1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（おおよそ −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1〜1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416479"/>
            <a:ext cx="164592" cy="318211"/>
          </a:xfrm>
          <a:prstGeom prst="downArrow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2761208"/>
            <a:ext cx="5486400" cy="3447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脚の学習（</a:t>
            </a:r>
            <a:r>
              <a:rPr lang="ja-JP" altLang="en-US" sz="1700" b="1" err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全段階</a:t>
            </a:r>
            <a:r>
              <a:rPr lang="ja-JP" altLang="en-US" sz="17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761208"/>
            <a:ext cx="5669280" cy="3447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腕の学習（</a:t>
            </a:r>
            <a:r>
              <a:rPr lang="en-US" sz="17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reach / haul / carry / catch</a:t>
            </a:r>
            <a:r>
              <a:rPr lang="ja-JP" altLang="en-US" sz="17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のみ）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212007"/>
            <a:ext cx="1691640" cy="1591056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291560"/>
            <a:ext cx="154533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① CPG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62806"/>
            <a:ext cx="154533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周波数・振幅・持ち上げ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姿勢・旋回など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02536" y="3874947"/>
            <a:ext cx="164592" cy="238658"/>
          </a:xfrm>
          <a:prstGeom prst="rightArrow">
            <a:avLst/>
          </a:prstGeom>
          <a:solidFill>
            <a:srgbClr val="2C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85416" y="3212007"/>
            <a:ext cx="1691640" cy="1591056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58568" y="3291560"/>
            <a:ext cx="154533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② 環境内 </a:t>
            </a:r>
            <a:r>
              <a:rPr lang="en-US" sz="14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CPG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3662806"/>
            <a:ext cx="154533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対角トロットで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関節へ展開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95344" y="3874947"/>
            <a:ext cx="164592" cy="238658"/>
          </a:xfrm>
          <a:prstGeom prst="rightArrow">
            <a:avLst/>
          </a:prstGeom>
          <a:solidFill>
            <a:srgbClr val="2C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78224" y="3212007"/>
            <a:ext cx="1691640" cy="1591056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 w="15875">
            <a:solidFill>
              <a:srgbClr val="4A5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1376" y="3291560"/>
            <a:ext cx="154533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③ 脚 </a:t>
            </a:r>
            <a:r>
              <a:rPr 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3662806"/>
            <a:ext cx="154533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kp 60 / kd 1.5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Go2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12007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3291560"/>
            <a:ext cx="159105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① EE → </a:t>
            </a:r>
            <a:r>
              <a:rPr lang="ja-JP" alt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解析 </a:t>
            </a:r>
            <a:r>
              <a:rPr 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662806"/>
            <a:ext cx="159105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解析ヤコビアン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q_ik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を解く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27848" y="3874947"/>
            <a:ext cx="164592" cy="238658"/>
          </a:xfrm>
          <a:prstGeom prst="rightArrow">
            <a:avLst/>
          </a:prstGeom>
          <a:solidFill>
            <a:srgbClr val="8A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10728" y="3212007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3291560"/>
            <a:ext cx="159105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② ＋ 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662806"/>
            <a:ext cx="159105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nl-NL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q_ik + 0.12·Δq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nl-NL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 + 0.35·Δg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66376" y="3874947"/>
            <a:ext cx="164592" cy="238658"/>
          </a:xfrm>
          <a:prstGeom prst="rightArrow">
            <a:avLst/>
          </a:prstGeom>
          <a:solidFill>
            <a:srgbClr val="8A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49256" y="3212007"/>
            <a:ext cx="1737360" cy="1591056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 w="15875">
            <a:solidFill>
              <a:srgbClr val="4A5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22408" y="3291560"/>
            <a:ext cx="1591056" cy="37124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③ 腕・指 </a:t>
            </a:r>
            <a:r>
              <a:rPr lang="en-US" sz="14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8" y="3662806"/>
            <a:ext cx="1591056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80/8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指 </a:t>
            </a: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20/2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Z1 + </a:t>
            </a:r>
            <a:r>
              <a:rPr lang="ja-JP" altLang="en-US"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グリッパ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" y="4975428"/>
            <a:ext cx="5532120" cy="13921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歩行（</a:t>
            </a: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walk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）では腕レーンを使わない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マスクは </a:t>
            </a: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のみ。腕は固定、または学習用にランダム保持。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975428"/>
            <a:ext cx="5669280" cy="13921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2801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は解析ヤコビアン（数値差分ではない）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EE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目標（到達点・箱・置き場）→ </a:t>
            </a:r>
            <a:r>
              <a:rPr lang="en-US" altLang="ja-JP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q_ik → </a:t>
            </a:r>
            <a:r>
              <a:rPr lang="ja-JP" altLang="en-US"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残差で微調整。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ja-JP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ネットワーク（脚のリズム生成）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方策は関節を直接出さず、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のつまみ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15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個を出す。環境内の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4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振動子が対角トロットで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関節へ展開する。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832104"/>
            <a:ext cx="218541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方策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088136"/>
            <a:ext cx="218541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観測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CPG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パラメータ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1325880"/>
            <a:ext cx="256032" cy="164592"/>
          </a:xfrm>
          <a:prstGeom prst="rightArrow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63240" y="77724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2" y="832104"/>
            <a:ext cx="26883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デコード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1088136"/>
            <a:ext cx="268833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freq / amp / lift…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dphi・couple・entrain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1325880"/>
            <a:ext cx="256032" cy="164592"/>
          </a:xfrm>
          <a:prstGeom prst="rightArrow">
            <a:avLst/>
          </a:prstGeom>
          <a:solidFill>
            <a:srgbClr val="2C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77724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832104"/>
            <a:ext cx="26883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ja-JP" sz="15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4 </a:t>
            </a:r>
            <a:r>
              <a:rPr lang="ja-JP" altLang="en-US" sz="15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振動子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088136"/>
            <a:ext cx="268833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FL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FR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RL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各足が位相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φ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を保持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60" y="1325880"/>
            <a:ext cx="256032" cy="164592"/>
          </a:xfrm>
          <a:prstGeom prst="rightArrow">
            <a:avLst/>
          </a:prstGeom>
          <a:solidFill>
            <a:srgbClr val="8A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46920" y="77724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E8E4DC"/>
          </a:solidFill>
          <a:ln w="15875">
            <a:solidFill>
              <a:srgbClr val="4A5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832104"/>
            <a:ext cx="209397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ja-JP" sz="15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関節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1088136"/>
            <a:ext cx="209397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hip/thigh/calf×4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 </a:t>
            </a: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377440"/>
            <a:ext cx="6583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振動子ネットワーク（対角トロット＋軟結合）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2788920"/>
            <a:ext cx="1554480" cy="960120"/>
          </a:xfrm>
          <a:prstGeom prst="ellipse">
            <a:avLst/>
          </a:prstGeom>
          <a:solidFill>
            <a:srgbClr val="D9E8DF"/>
          </a:solidFill>
          <a:ln w="2222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95351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FL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ペア </a:t>
            </a: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A　</a:t>
            </a:r>
            <a:r>
              <a:rPr lang="el-GR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φ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0" y="2788920"/>
            <a:ext cx="1554480" cy="960120"/>
          </a:xfrm>
          <a:prstGeom prst="ellipse">
            <a:avLst/>
          </a:prstGeom>
          <a:solidFill>
            <a:srgbClr val="F0E0D8"/>
          </a:solidFill>
          <a:ln w="2222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295351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FR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2461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ペア </a:t>
            </a: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　</a:t>
            </a:r>
            <a:r>
              <a:rPr lang="el-GR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φ＋π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4069080"/>
            <a:ext cx="1554480" cy="960120"/>
          </a:xfrm>
          <a:prstGeom prst="ellipse">
            <a:avLst/>
          </a:prstGeom>
          <a:solidFill>
            <a:srgbClr val="F0E0D8"/>
          </a:solidFill>
          <a:ln w="2222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3367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2628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ペア </a:t>
            </a: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0" y="4069080"/>
            <a:ext cx="1554480" cy="960120"/>
          </a:xfrm>
          <a:prstGeom prst="ellipse">
            <a:avLst/>
          </a:prstGeom>
          <a:solidFill>
            <a:srgbClr val="D9E8DF"/>
          </a:solidFill>
          <a:ln w="2222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423367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RR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52628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ペア </a:t>
            </a:r>
            <a:r>
              <a:rPr 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2880360"/>
            <a:ext cx="23317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軟結合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couple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対角の位相へ引き戻す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ja-JP" altLang="en-US" sz="12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Δab / Δa / Δb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不整地用のずれ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ja-JP" altLang="en-US" sz="12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entrain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接地でスタンスへ引く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2377440"/>
            <a:ext cx="48006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40880" y="2377440"/>
            <a:ext cx="48006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なぜ </a:t>
            </a:r>
            <a:r>
              <a:rPr lang="en-US" sz="17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7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2798064"/>
            <a:ext cx="4562856" cy="337413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関節を直接学習すると探索が重い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リズム構造を環境側に置き、方策は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周波数・振幅・旋回などのつまみだけ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教師（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）→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→ PPO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と同一の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行動空間（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15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）を共有できる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平坦では硬い対角トロット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不整地では位相適応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5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つで接地をずらす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展開後は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sin(φ)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で振り、持ち上げは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relu(−sin(φ))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。後退は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amp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の符号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観測・制御量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全段階で観測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81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・行動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22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を共有。位置は胴体基準（前が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+X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）。脚指令は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展開後の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関節も観測に入れる。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04672"/>
            <a:ext cx="5715000" cy="5806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804672"/>
            <a:ext cx="571500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観測　</a:t>
            </a:r>
            <a:r>
              <a:rPr lang="en-US" altLang="ja-JP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5477256" cy="529437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脚の角度・角速度　　各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重力方向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、胴体並進・角速度 各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、高さ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足の接地　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4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（接触力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 N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超）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腕の角度・角速度　各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、指の開閉・速度 各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手先・物資・目標　各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（胴体基準）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把持フラグ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、段階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one-hot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速度指令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（キャッチ時は予測位置）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直前の脚指令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が展開した関節）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804672"/>
            <a:ext cx="5715000" cy="5806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53912" y="804672"/>
            <a:ext cx="571500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制御量　行動 </a:t>
            </a:r>
            <a:r>
              <a:rPr lang="en-US" altLang="zh-TW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22 → </a:t>
            </a:r>
            <a:r>
              <a:rPr lang="zh-TW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関節目標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225296"/>
            <a:ext cx="5477256" cy="529437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方策出力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15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リズムのつまみ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腕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Δq 6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への残差（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×0.12 rad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指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Δg 1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開閉残差（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×0.35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lang="ja-JP" altLang="en-US" sz="11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環境側で組み立て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→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12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関節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PD kp60/kd1.5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+ Δq →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PD kp80/kd8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段階ベース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+ Δg →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PD kp20/kd2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lang="ja-JP" altLang="en-US" sz="11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学習設定（抜粋）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16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環境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× 128 step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γ0.99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clip0.2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試行 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20 </a:t>
            </a:r>
            <a:r>
              <a:rPr lang="ja-JP" altLang="en-US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秒、</a:t>
            </a:r>
            <a:r>
              <a:rPr lang="en-US" altLang="ja-JP" sz="18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dt 0.02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学習の流れ（</a:t>
            </a:r>
            <a:r>
              <a:rPr lang="en-US" altLang="ja-JP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→ </a:t>
            </a: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カリキュラム）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まず教師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CPG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を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BC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でまね、そのあと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PPO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で段階を上げる。各段階の重みを次の初期値にする。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① 教師 </a:t>
            </a:r>
            <a:r>
              <a:rPr 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CPG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前進・左右旋回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② 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同じ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技能を模倣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F0E0D8"/>
          </a:solidFill>
          <a:ln w="15875">
            <a:solidFill>
              <a:srgbClr val="8A4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091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③ 歩行 </a:t>
            </a:r>
            <a:r>
              <a:rPr lang="en-US" sz="15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PPO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指令追従を強化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7E4E8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263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④ 到達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手先を空中点へ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86868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9E8DF"/>
          </a:solidFill>
          <a:ln w="15875">
            <a:solidFill>
              <a:srgbClr val="2C6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4352" y="923544"/>
            <a:ext cx="2002536" cy="256032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⑤ 箱運び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1179576"/>
            <a:ext cx="2002536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拾う・運ぶ・置く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33172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66344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699516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9326880" y="1325880"/>
            <a:ext cx="237744" cy="164592"/>
          </a:xfrm>
          <a:prstGeom prst="rightArrow">
            <a:avLst/>
          </a:prstGeom>
          <a:solidFill>
            <a:srgbClr val="4A5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56032" y="2377440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" y="2377440"/>
            <a:ext cx="57150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模倣（教師 → </a:t>
            </a:r>
            <a:r>
              <a:rPr lang="en-US" altLang="zh-TW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BC</a:t>
            </a:r>
            <a:r>
              <a:rPr lang="zh-TW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798064"/>
            <a:ext cx="5477256" cy="364845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教師は開ループ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（対角トロット）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演示は前進・左旋回・右旋回のみ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BC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が同じ行動空間（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 15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）を学習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ここまでで「歩ける初期方策」を得る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377440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2377440"/>
            <a:ext cx="571500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カリキュラム（</a:t>
            </a:r>
            <a:r>
              <a:rPr lang="en-US" altLang="ja-JP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PPO</a:t>
            </a: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798064"/>
            <a:ext cx="5477256" cy="364845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　速度指令への一致を強化学習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到達　歩行重みから。手先を点へ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箱運び　拾って目標へ置く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（任意）キャッチは到達重みから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観測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81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・行動 </a:t>
            </a:r>
            <a:r>
              <a:rPr lang="en-US" altLang="ja-JP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22 </a:t>
            </a: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が全段階で共通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7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次段階へ進むかは録画を見て判断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報酬と学習の工夫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成功の瞬間だけでなく毎ステップで導く。難しすぎたら一段易しく戻す。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22960"/>
            <a:ext cx="57150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71500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主な報酬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43584"/>
            <a:ext cx="5477256" cy="51572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前進　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0.40 m/s 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への一致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・接近　手先→箱、箱→目標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・把持・設置　成功時に加点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・転倒　大きく減点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・歩行段階は速度トラッキング中心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・到達は手先の接近・保持が中心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822960"/>
            <a:ext cx="57150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822960"/>
            <a:ext cx="571500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800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工夫した点（しようとした点）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243584"/>
            <a:ext cx="5477256" cy="51572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・段階分け（歩行→到達→箱運び）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・直前段階の重みを初期値にする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・観測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81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・行動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22 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を全段階で共有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成績が続くと難度を戻す／上げる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・脚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CPG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・腕 解析 </a:t>
            </a:r>
            <a:r>
              <a:rPr lang="en-US" altLang="ja-JP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</a:t>
            </a:r>
            <a:r>
              <a:rPr lang="ja-JP" altLang="en-US" sz="20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＋残差で探索を縮小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Loss </a:t>
            </a: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と学習曲線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更新は、方策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Loss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＋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1.0 ×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価値 </a:t>
            </a:r>
            <a:r>
              <a:rPr lang="en-US" altLang="ja-JP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Loss − 0.01 × </a:t>
            </a: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エントロピー。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68680"/>
            <a:ext cx="562356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868680"/>
            <a:ext cx="562356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ja-JP"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lang="ja-JP" altLang="en-US"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つの </a:t>
            </a:r>
            <a:r>
              <a:rPr lang="en-US"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9304"/>
            <a:ext cx="5385816" cy="515721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方策 </a:t>
            </a:r>
            <a:r>
              <a:rPr lang="en-US" altLang="ja-JP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良かった行動の確率を上げる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変化は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clip 0.2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までに制限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ゼロ付近なら更新は小さい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価値 </a:t>
            </a:r>
            <a:r>
              <a:rPr lang="en-US" altLang="ja-JP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Loss</a:t>
            </a:r>
            <a:r>
              <a:rPr lang="ja-JP" altLang="en-US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係数 </a:t>
            </a:r>
            <a:r>
              <a:rPr lang="en-US" altLang="ja-JP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これからの報酬合計の予測誤差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0.5 ×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（実際 − 予測）の二乗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エントロピー　係数 </a:t>
            </a:r>
            <a:r>
              <a:rPr lang="en-US" altLang="ja-JP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0.01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行動のばらつきを少し残す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引き算なので、探索が報酬になる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endParaRPr lang="ja-JP" altLang="en-US" sz="1100" b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曲線の見方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報酬・把持率は上向きが良い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手先と箱の距離は下向きが良い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方策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Loss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は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0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の近くに落ち着く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歩行の記録は 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tracking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。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 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が指令どおり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右の</a:t>
            </a:r>
            <a:r>
              <a:rPr lang="en-US" altLang="ja-JP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4</a:t>
            </a:r>
            <a:r>
              <a:rPr lang="ja-JP" altLang="en-US"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枚は箱運びの曲線</a:t>
            </a:r>
          </a:p>
        </p:txBody>
      </p:sp>
      <p:pic>
        <p:nvPicPr>
          <p:cNvPr id="8" name="Picture 7" descr="PickAndCarr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353312"/>
            <a:ext cx="5989320" cy="3684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64008"/>
            <a:ext cx="11384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30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結論・今後に向けて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2928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5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今回できたことと、足りなかった点を整理する。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960120"/>
            <a:ext cx="3794760" cy="544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960120"/>
            <a:ext cx="379476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学習で苦労したこと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0744"/>
            <a:ext cx="3557016" cy="49286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・歩行の安定化に時間がかかった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・腕を同時に動かすと探索が重い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・段階のつなぎ（重み引き継ぎ）　</a:t>
            </a:r>
            <a:endParaRPr lang="en-US" altLang="ja-JP" sz="1800" b="0" dirty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で性能が落ちやすい（あまり解</a:t>
            </a:r>
            <a:b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</a:b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決できていない）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・報酬設計と難度の戻しが繊細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・録画を見ながらの判断が必要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960120"/>
            <a:ext cx="3794760" cy="544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87952" y="960120"/>
            <a:ext cx="379476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やりたかった高度なタスク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380744"/>
            <a:ext cx="3557016" cy="49286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・飛来ボールのキャッチ完成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・持ち歩き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〜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設置までの一気通貫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・より速い指令・荒い不整地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・実機寄りのセンサノイズ耐性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・複数箱・長いコースの連続搬送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960120"/>
            <a:ext cx="3794760" cy="5440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960120"/>
            <a:ext cx="379476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計算リソースの制約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380744"/>
            <a:ext cx="3557016" cy="4928616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・手元 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GPU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では並列環境数・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反復数が限られる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reach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以降は 数値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で 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step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が</a:t>
            </a:r>
            <a:endParaRPr lang="en-US" altLang="ja-JP" sz="1800" b="0" dirty="0">
              <a:solidFill>
                <a:srgbClr val="1C282C"/>
              </a:solidFill>
              <a:latin typeface="Yu Gothic"/>
              <a:ea typeface="Yu Gothic"/>
              <a:cs typeface="Yu Gothic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重い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・長時間カリキュラムを回し切れ</a:t>
            </a:r>
            <a:b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</a:b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ず高度な段階まで十分に学習で</a:t>
            </a:r>
            <a:b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</a:b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きず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→ 解析 </a:t>
            </a:r>
            <a:r>
              <a:rPr lang="en-US" altLang="ja-JP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IK </a:t>
            </a: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などで高速化しつつ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ja-JP" altLang="en-US" sz="1800" b="0" dirty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段階を絞って提出に至った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1493</Words>
  <Application>Microsoft Office PowerPoint</Application>
  <PresentationFormat>ワイド画面</PresentationFormat>
  <Paragraphs>204</Paragraphs>
  <Slides>9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和幸 根</cp:lastModifiedBy>
  <cp:revision>3</cp:revision>
  <dcterms:created xsi:type="dcterms:W3CDTF">2013-01-27T09:14:16Z</dcterms:created>
  <dcterms:modified xsi:type="dcterms:W3CDTF">2026-10-22T11:55:24Z</dcterms:modified>
  <cp:category/>
</cp:coreProperties>
</file>